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65" r:id="rId5"/>
    <p:sldId id="259" r:id="rId6"/>
    <p:sldId id="263" r:id="rId7"/>
    <p:sldId id="264" r:id="rId8"/>
    <p:sldId id="258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55CFD6-F0A5-B106-55D5-ABD15E29B3FB}" v="546" dt="2026-06-10T17:30:57.691"/>
    <p1510:client id="{54D0828B-1B5A-B73C-F131-A937D4CDD534}" v="13" dt="2026-06-10T14:26:36.889"/>
    <p1510:client id="{61185EA9-CD86-DC86-D35F-3E0158E4C741}" v="10" dt="2026-06-10T13:10:48.426"/>
    <p1510:client id="{6B94A4FE-BDC7-1304-9CD8-1EAEC7B484E6}" v="265" dt="2026-06-10T18:24:34.987"/>
    <p1510:client id="{893FA5A5-5F47-1D20-F890-BDDC0789E45A}" v="38" dt="2026-06-10T21:00:26.337"/>
    <p1510:client id="{9F8CAD64-5E90-BA3A-0F48-30514B4546D5}" v="129" dt="2026-06-10T10:53:21.620"/>
    <p1510:client id="{B66CCE37-0509-F5DD-89DD-2C10CF467D3A}" v="560" dt="2026-06-10T13:40:53.935"/>
    <p1510:client id="{F032D042-0A53-0F80-136D-C0FA50E6041F}" v="21" dt="2026-06-10T15:41:36.8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10/06/2026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10/06/2026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10/06/2026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10/06/2026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10/06/2026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10/06/2026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10/06/2026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10/06/2026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10/06/2026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10/06/2026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10/06/2026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10/06/2026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 dirty="0"/>
              <a:t>Laszlo Meylan, </a:t>
            </a:r>
            <a:r>
              <a:rPr lang="fr-FR"/>
              <a:t>Tadeusz Kondracki, Jules Rossier, Yanni Skawronski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4C2437-EFB2-114A-2286-6EB8DEA1C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192433"/>
            <a:ext cx="8534400" cy="122764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4BA93E-6770-1EF0-9825-2B37EC0EB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DDD3D-B47E-2FB6-6787-8C9B15A24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ptos"/>
                <a:cs typeface="Quire Sans"/>
              </a:rPr>
              <a:t>Introduction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EBA6FF9-5CE2-DFA6-D78D-CABA33A796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03507" y="156125"/>
            <a:ext cx="2105371" cy="156503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5739ADE-5A60-E36B-6267-74E33D2804E0}"/>
              </a:ext>
            </a:extLst>
          </p:cNvPr>
          <p:cNvSpPr txBox="1"/>
          <p:nvPr/>
        </p:nvSpPr>
        <p:spPr>
          <a:xfrm>
            <a:off x="1371064" y="2142287"/>
            <a:ext cx="5255745" cy="35990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43993C-89F6-DA40-A144-B98AF53DAC22}"/>
              </a:ext>
            </a:extLst>
          </p:cNvPr>
          <p:cNvSpPr txBox="1"/>
          <p:nvPr/>
        </p:nvSpPr>
        <p:spPr>
          <a:xfrm>
            <a:off x="851330" y="1900832"/>
            <a:ext cx="10489089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 b="1" dirty="0" err="1">
                <a:ea typeface="+mn-lt"/>
                <a:cs typeface="+mn-lt"/>
              </a:rPr>
              <a:t>Plateforme</a:t>
            </a:r>
            <a:r>
              <a:rPr lang="en-US" sz="2400" b="1" dirty="0">
                <a:ea typeface="+mn-lt"/>
                <a:cs typeface="+mn-lt"/>
              </a:rPr>
              <a:t> de </a:t>
            </a:r>
            <a:r>
              <a:rPr lang="en-US" sz="2400" b="1" dirty="0" err="1">
                <a:ea typeface="+mn-lt"/>
                <a:cs typeface="+mn-lt"/>
              </a:rPr>
              <a:t>développement</a:t>
            </a:r>
            <a:r>
              <a:rPr lang="en-US" sz="2400" b="1" dirty="0">
                <a:ea typeface="+mn-lt"/>
                <a:cs typeface="+mn-lt"/>
              </a:rPr>
              <a:t> full-stack</a:t>
            </a:r>
          </a:p>
          <a:p>
            <a:pPr marL="285750" indent="-285750">
              <a:buFont typeface="Arial"/>
              <a:buChar char="•"/>
            </a:pPr>
            <a:endParaRPr lang="en-US" sz="2400" b="1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400" b="1" dirty="0">
                <a:ea typeface="+mn-lt"/>
                <a:cs typeface="+mn-lt"/>
              </a:rPr>
              <a:t>Simplifie le </a:t>
            </a:r>
            <a:r>
              <a:rPr lang="en-US" sz="2400" b="1" dirty="0" err="1">
                <a:ea typeface="+mn-lt"/>
                <a:cs typeface="+mn-lt"/>
              </a:rPr>
              <a:t>déploiement</a:t>
            </a:r>
            <a:r>
              <a:rPr lang="en-US" sz="2400" b="1" dirty="0">
                <a:ea typeface="+mn-lt"/>
                <a:cs typeface="+mn-lt"/>
              </a:rPr>
              <a:t> et </a:t>
            </a:r>
            <a:r>
              <a:rPr lang="en-US" sz="2400" b="1" dirty="0" err="1">
                <a:ea typeface="+mn-lt"/>
                <a:cs typeface="+mn-lt"/>
              </a:rPr>
              <a:t>l'hébergement</a:t>
            </a:r>
            <a:r>
              <a:rPr lang="en-US" sz="2400" b="1" dirty="0">
                <a:ea typeface="+mn-lt"/>
                <a:cs typeface="+mn-lt"/>
              </a:rPr>
              <a:t> </a:t>
            </a:r>
            <a:r>
              <a:rPr lang="en-US" sz="2400" b="1" dirty="0" err="1">
                <a:ea typeface="+mn-lt"/>
                <a:cs typeface="+mn-lt"/>
              </a:rPr>
              <a:t>d'applications</a:t>
            </a:r>
            <a:r>
              <a:rPr lang="en-US" sz="2400" b="1" dirty="0">
                <a:ea typeface="+mn-lt"/>
                <a:cs typeface="+mn-lt"/>
              </a:rPr>
              <a:t> web et mobiles </a:t>
            </a:r>
          </a:p>
          <a:p>
            <a:pPr marL="285750" indent="-285750">
              <a:buFont typeface="Arial"/>
              <a:buChar char="•"/>
            </a:pPr>
            <a:endParaRPr lang="en-US" sz="2400" b="1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400" b="1" dirty="0" err="1">
                <a:ea typeface="+mn-lt"/>
                <a:cs typeface="+mn-lt"/>
              </a:rPr>
              <a:t>Intègre</a:t>
            </a:r>
            <a:r>
              <a:rPr lang="en-US" sz="2400" b="1" dirty="0">
                <a:ea typeface="+mn-lt"/>
                <a:cs typeface="+mn-lt"/>
              </a:rPr>
              <a:t> des services </a:t>
            </a:r>
            <a:r>
              <a:rPr lang="en-US" sz="2400" b="1" dirty="0" err="1">
                <a:ea typeface="+mn-lt"/>
                <a:cs typeface="+mn-lt"/>
              </a:rPr>
              <a:t>tels</a:t>
            </a:r>
            <a:r>
              <a:rPr lang="en-US" sz="2400" b="1" dirty="0">
                <a:ea typeface="+mn-lt"/>
                <a:cs typeface="+mn-lt"/>
              </a:rPr>
              <a:t> </a:t>
            </a:r>
            <a:r>
              <a:rPr lang="en-US" sz="2400" b="1" dirty="0" err="1">
                <a:ea typeface="+mn-lt"/>
                <a:cs typeface="+mn-lt"/>
              </a:rPr>
              <a:t>que</a:t>
            </a:r>
            <a:r>
              <a:rPr lang="en-US" sz="2400" b="1" dirty="0">
                <a:ea typeface="+mn-lt"/>
                <a:cs typeface="+mn-lt"/>
              </a:rPr>
              <a:t> </a:t>
            </a:r>
            <a:r>
              <a:rPr lang="en-US" sz="2400" b="1" dirty="0" err="1">
                <a:ea typeface="+mn-lt"/>
                <a:cs typeface="+mn-lt"/>
              </a:rPr>
              <a:t>l'authentification</a:t>
            </a:r>
            <a:r>
              <a:rPr lang="en-US" sz="2400" b="1" dirty="0">
                <a:ea typeface="+mn-lt"/>
                <a:cs typeface="+mn-lt"/>
              </a:rPr>
              <a:t>, le stockage et des API</a:t>
            </a:r>
          </a:p>
          <a:p>
            <a:pPr marL="285750" indent="-285750">
              <a:buFont typeface="Arial"/>
              <a:buChar char="•"/>
            </a:pPr>
            <a:endParaRPr lang="en-US" sz="2400" b="1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400" b="1" dirty="0" err="1">
                <a:ea typeface="+mn-lt"/>
                <a:cs typeface="+mn-lt"/>
              </a:rPr>
              <a:t>Permet</a:t>
            </a:r>
            <a:r>
              <a:rPr lang="en-US" sz="2400" b="1" dirty="0">
                <a:ea typeface="+mn-lt"/>
                <a:cs typeface="+mn-lt"/>
              </a:rPr>
              <a:t> aux </a:t>
            </a:r>
            <a:r>
              <a:rPr lang="en-US" sz="2400" b="1" dirty="0" err="1">
                <a:ea typeface="+mn-lt"/>
                <a:cs typeface="+mn-lt"/>
              </a:rPr>
              <a:t>développeurs</a:t>
            </a:r>
            <a:r>
              <a:rPr lang="en-US" sz="2400" b="1" dirty="0">
                <a:ea typeface="+mn-lt"/>
                <a:cs typeface="+mn-lt"/>
              </a:rPr>
              <a:t> de se </a:t>
            </a:r>
            <a:r>
              <a:rPr lang="en-US" sz="2400" b="1" dirty="0" err="1">
                <a:ea typeface="+mn-lt"/>
                <a:cs typeface="+mn-lt"/>
              </a:rPr>
              <a:t>concentrer</a:t>
            </a:r>
            <a:r>
              <a:rPr lang="en-US" sz="2400" b="1" dirty="0">
                <a:ea typeface="+mn-lt"/>
                <a:cs typeface="+mn-lt"/>
              </a:rPr>
              <a:t> sur </a:t>
            </a:r>
            <a:r>
              <a:rPr lang="en-US" sz="2400" b="1" dirty="0" err="1">
                <a:ea typeface="+mn-lt"/>
                <a:cs typeface="+mn-lt"/>
              </a:rPr>
              <a:t>l'application</a:t>
            </a:r>
            <a:r>
              <a:rPr lang="en-US" sz="2400" b="1" dirty="0">
                <a:ea typeface="+mn-lt"/>
                <a:cs typeface="+mn-lt"/>
              </a:rPr>
              <a:t> </a:t>
            </a:r>
            <a:r>
              <a:rPr lang="en-US" sz="2400" b="1" dirty="0" err="1">
                <a:ea typeface="+mn-lt"/>
                <a:cs typeface="+mn-lt"/>
              </a:rPr>
              <a:t>plutôt</a:t>
            </a:r>
            <a:r>
              <a:rPr lang="en-US" sz="2400" b="1" dirty="0">
                <a:ea typeface="+mn-lt"/>
                <a:cs typeface="+mn-lt"/>
              </a:rPr>
              <a:t> </a:t>
            </a:r>
            <a:r>
              <a:rPr lang="en-US" sz="2400" b="1" dirty="0" err="1">
                <a:ea typeface="+mn-lt"/>
                <a:cs typeface="+mn-lt"/>
              </a:rPr>
              <a:t>que</a:t>
            </a:r>
            <a:r>
              <a:rPr lang="en-US" sz="2400" b="1" dirty="0">
                <a:ea typeface="+mn-lt"/>
                <a:cs typeface="+mn-lt"/>
              </a:rPr>
              <a:t> sur </a:t>
            </a:r>
            <a:r>
              <a:rPr lang="en-US" sz="2400" b="1" dirty="0" err="1">
                <a:ea typeface="+mn-lt"/>
                <a:cs typeface="+mn-lt"/>
              </a:rPr>
              <a:t>l'infrastructure</a:t>
            </a:r>
            <a:r>
              <a:rPr lang="en-US" sz="2400" b="1" dirty="0">
                <a:ea typeface="+mn-lt"/>
                <a:cs typeface="+mn-lt"/>
              </a:rPr>
              <a:t> cloud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B3CC2C-04D7-DDC6-BCAC-8F7160695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2812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DD0E1-AD39-6C20-0B17-C628A204B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0B999-9E3A-196A-7D2F-269C97AA5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ptos"/>
                <a:cs typeface="Quire Sans"/>
              </a:rPr>
              <a:t>Services AWS Amplify</a:t>
            </a:r>
            <a:endParaRPr lang="en-US" dirty="0">
              <a:latin typeface="Aptos"/>
              <a:cs typeface="Quire Sans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FD0F95F-3F34-87A0-DB0F-BB51C1DAB0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03507" y="156125"/>
            <a:ext cx="2105371" cy="156503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8D097E9-49E8-1F7C-57F6-FF9CEA6A6EF5}"/>
              </a:ext>
            </a:extLst>
          </p:cNvPr>
          <p:cNvSpPr txBox="1"/>
          <p:nvPr/>
        </p:nvSpPr>
        <p:spPr>
          <a:xfrm>
            <a:off x="1371064" y="2142287"/>
            <a:ext cx="5255745" cy="35990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93A13E-BEBF-4E89-DFF1-D9DA10202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3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66CD201-814F-BB30-8C20-0BCE9E6F23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3176789"/>
              </p:ext>
            </p:extLst>
          </p:nvPr>
        </p:nvGraphicFramePr>
        <p:xfrm>
          <a:off x="904875" y="2000250"/>
          <a:ext cx="10391048" cy="42976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195524">
                  <a:extLst>
                    <a:ext uri="{9D8B030D-6E8A-4147-A177-3AD203B41FA5}">
                      <a16:colId xmlns:a16="http://schemas.microsoft.com/office/drawing/2014/main" val="3348726080"/>
                    </a:ext>
                  </a:extLst>
                </a:gridCol>
                <a:gridCol w="5195524">
                  <a:extLst>
                    <a:ext uri="{9D8B030D-6E8A-4147-A177-3AD203B41FA5}">
                      <a16:colId xmlns:a16="http://schemas.microsoft.com/office/drawing/2014/main" val="7651891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Service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 err="1"/>
                        <a:t>Rôle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0560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0"/>
                        <a:t>Hosting</a:t>
                      </a:r>
                      <a:endParaRPr lang="en-US" sz="2400" b="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 err="1"/>
                        <a:t>Hébergement</a:t>
                      </a:r>
                      <a:r>
                        <a:rPr lang="en-US" sz="2400" dirty="0"/>
                        <a:t> et </a:t>
                      </a:r>
                      <a:r>
                        <a:rPr lang="en-US" sz="2400" dirty="0" err="1"/>
                        <a:t>déploiement</a:t>
                      </a:r>
                      <a:r>
                        <a:rPr lang="en-US" sz="2400" dirty="0"/>
                        <a:t> de </a:t>
                      </a:r>
                      <a:r>
                        <a:rPr lang="en-US" sz="2400" dirty="0" err="1"/>
                        <a:t>l'application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6516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0"/>
                        <a:t>Authentication (Cognito)</a:t>
                      </a:r>
                      <a:endParaRPr lang="en-US" sz="2400" b="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Gestion des </a:t>
                      </a:r>
                      <a:r>
                        <a:rPr lang="en-US" sz="2400" dirty="0" err="1"/>
                        <a:t>utilisateurs</a:t>
                      </a:r>
                      <a:r>
                        <a:rPr lang="en-US" sz="2400" dirty="0"/>
                        <a:t> et </a:t>
                      </a:r>
                      <a:r>
                        <a:rPr lang="en-US" sz="2400" dirty="0" err="1"/>
                        <a:t>connexions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0656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0"/>
                        <a:t>Data (DynamoDB)</a:t>
                      </a:r>
                      <a:endParaRPr lang="en-US" sz="2400" b="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Stockage des données </a:t>
                      </a:r>
                      <a:r>
                        <a:rPr lang="en-US" sz="2400" dirty="0" err="1"/>
                        <a:t>applicatives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07875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0"/>
                        <a:t>Storage (S3)</a:t>
                      </a:r>
                      <a:endParaRPr lang="en-US" sz="2400" b="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Stockage de </a:t>
                      </a:r>
                      <a:r>
                        <a:rPr lang="en-US" sz="2400" dirty="0" err="1"/>
                        <a:t>fichiers</a:t>
                      </a:r>
                      <a:r>
                        <a:rPr lang="en-US" sz="2400" dirty="0"/>
                        <a:t> et </a:t>
                      </a:r>
                      <a:r>
                        <a:rPr lang="en-US" sz="2400" dirty="0" err="1"/>
                        <a:t>médias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42059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0" dirty="0"/>
                        <a:t>API (REST / </a:t>
                      </a:r>
                      <a:r>
                        <a:rPr lang="en-US" sz="2400" b="0" dirty="0" err="1"/>
                        <a:t>GraphQL</a:t>
                      </a:r>
                      <a:r>
                        <a:rPr lang="en-US" sz="2400" b="0" dirty="0"/>
                        <a:t>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Communication entre le frontend et les données</a:t>
                      </a:r>
                      <a:endParaRPr lang="en-US" sz="24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70069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0"/>
                        <a:t>CI/CD</a:t>
                      </a:r>
                      <a:endParaRPr lang="en-US" sz="2400" b="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Build et </a:t>
                      </a:r>
                      <a:r>
                        <a:rPr lang="en-US" sz="2400" dirty="0" err="1"/>
                        <a:t>déploiement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automatiques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depuis</a:t>
                      </a:r>
                      <a:r>
                        <a:rPr lang="en-US" sz="2400" dirty="0"/>
                        <a:t> Git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79547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44234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4A5CE-5E65-9A03-1722-22F996915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17EBD-B62E-421F-BF52-53620133D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3491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514350" indent="-514350">
              <a:buAutoNum type="arabicPeriod"/>
            </a:pPr>
            <a:r>
              <a:rPr lang="en-US" b="1" dirty="0">
                <a:ea typeface="+mn-lt"/>
                <a:cs typeface="+mn-lt"/>
              </a:rPr>
              <a:t>Développement local</a:t>
            </a:r>
            <a:br>
              <a:rPr lang="en-US" b="1" dirty="0">
                <a:ea typeface="+mn-lt"/>
                <a:cs typeface="+mn-lt"/>
              </a:rPr>
            </a:br>
            <a:r>
              <a:rPr lang="en-US" dirty="0" err="1">
                <a:ea typeface="+mn-lt"/>
                <a:cs typeface="+mn-lt"/>
              </a:rPr>
              <a:t>Création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l’application</a:t>
            </a:r>
            <a:r>
              <a:rPr lang="en-US" dirty="0">
                <a:ea typeface="+mn-lt"/>
                <a:cs typeface="+mn-lt"/>
              </a:rPr>
              <a:t> frontend et configuration des services Amplify</a:t>
            </a:r>
          </a:p>
          <a:p>
            <a:pPr marL="514350" indent="-514350">
              <a:buAutoNum type="arabicPeriod"/>
            </a:pPr>
            <a:r>
              <a:rPr lang="en-US" b="1" dirty="0">
                <a:ea typeface="+mn-lt"/>
                <a:cs typeface="+mn-lt"/>
              </a:rPr>
              <a:t>Configuration du backend</a:t>
            </a:r>
            <a:br>
              <a:rPr lang="en-US" b="1" dirty="0">
                <a:ea typeface="+mn-lt"/>
                <a:cs typeface="+mn-lt"/>
              </a:rPr>
            </a:br>
            <a:r>
              <a:rPr lang="en-US" dirty="0" err="1">
                <a:ea typeface="+mn-lt"/>
                <a:cs typeface="+mn-lt"/>
              </a:rPr>
              <a:t>Authentification</a:t>
            </a:r>
            <a:r>
              <a:rPr lang="en-US" dirty="0">
                <a:ea typeface="+mn-lt"/>
                <a:cs typeface="+mn-lt"/>
              </a:rPr>
              <a:t>, API, base de données, stockage, …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 b="1" dirty="0" err="1">
                <a:ea typeface="+mn-lt"/>
                <a:cs typeface="+mn-lt"/>
              </a:rPr>
              <a:t>Déploiement</a:t>
            </a:r>
            <a:r>
              <a:rPr lang="en-US" b="1" dirty="0">
                <a:ea typeface="+mn-lt"/>
                <a:cs typeface="+mn-lt"/>
              </a:rPr>
              <a:t> vers AWS</a:t>
            </a:r>
            <a:br>
              <a:rPr lang="en-US" b="1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Les </a:t>
            </a:r>
            <a:r>
              <a:rPr lang="en-US" dirty="0" err="1">
                <a:ea typeface="+mn-lt"/>
                <a:cs typeface="+mn-lt"/>
              </a:rPr>
              <a:t>ressources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sont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créées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automatiquement</a:t>
            </a:r>
            <a:r>
              <a:rPr lang="en-US" dirty="0">
                <a:ea typeface="+mn-lt"/>
                <a:cs typeface="+mn-lt"/>
              </a:rPr>
              <a:t> sur AWS </a:t>
            </a:r>
            <a:endParaRPr lang="en-US">
              <a:ea typeface="+mn-lt"/>
              <a:cs typeface="+mn-lt"/>
            </a:endParaRPr>
          </a:p>
          <a:p>
            <a:pPr marL="514350" indent="-514350">
              <a:buAutoNum type="arabicPeriod"/>
            </a:pPr>
            <a:r>
              <a:rPr lang="en-US" b="1" dirty="0">
                <a:ea typeface="+mn-lt"/>
                <a:cs typeface="+mn-lt"/>
              </a:rPr>
              <a:t>Connexion au repository Git</a:t>
            </a:r>
            <a:br>
              <a:rPr lang="en-US" b="1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Le </a:t>
            </a:r>
            <a:r>
              <a:rPr lang="en-US" dirty="0" err="1">
                <a:ea typeface="+mn-lt"/>
                <a:cs typeface="+mn-lt"/>
              </a:rPr>
              <a:t>projet</a:t>
            </a:r>
            <a:r>
              <a:rPr lang="en-US" dirty="0">
                <a:ea typeface="+mn-lt"/>
                <a:cs typeface="+mn-lt"/>
              </a:rPr>
              <a:t> est </a:t>
            </a:r>
            <a:r>
              <a:rPr lang="en-US" dirty="0" err="1">
                <a:ea typeface="+mn-lt"/>
                <a:cs typeface="+mn-lt"/>
              </a:rPr>
              <a:t>lié</a:t>
            </a:r>
            <a:r>
              <a:rPr lang="en-US" dirty="0">
                <a:ea typeface="+mn-lt"/>
                <a:cs typeface="+mn-lt"/>
              </a:rPr>
              <a:t> à GitHub pour </a:t>
            </a:r>
            <a:r>
              <a:rPr lang="en-US" dirty="0" err="1">
                <a:ea typeface="+mn-lt"/>
                <a:cs typeface="+mn-lt"/>
              </a:rPr>
              <a:t>automatiser</a:t>
            </a:r>
            <a:r>
              <a:rPr lang="en-US" dirty="0">
                <a:ea typeface="+mn-lt"/>
                <a:cs typeface="+mn-lt"/>
              </a:rPr>
              <a:t> les </a:t>
            </a:r>
            <a:r>
              <a:rPr lang="en-US" dirty="0" err="1">
                <a:ea typeface="+mn-lt"/>
                <a:cs typeface="+mn-lt"/>
              </a:rPr>
              <a:t>déploiements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/>
          </a:p>
          <a:p>
            <a:pPr marL="514350" indent="-514350">
              <a:buAutoNum type="arabicPeriod"/>
            </a:pPr>
            <a:r>
              <a:rPr lang="en-US" b="1" dirty="0">
                <a:ea typeface="+mn-lt"/>
                <a:cs typeface="+mn-lt"/>
              </a:rPr>
              <a:t>CI/CD </a:t>
            </a:r>
            <a:r>
              <a:rPr lang="en-US" b="1" dirty="0" err="1">
                <a:ea typeface="+mn-lt"/>
                <a:cs typeface="+mn-lt"/>
              </a:rPr>
              <a:t>automatique</a:t>
            </a:r>
            <a:br>
              <a:rPr lang="en-US" b="1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A </a:t>
            </a:r>
            <a:r>
              <a:rPr lang="en-US" dirty="0" err="1">
                <a:ea typeface="+mn-lt"/>
                <a:cs typeface="+mn-lt"/>
              </a:rPr>
              <a:t>chaque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dirty="0">
                <a:latin typeface="Consolas"/>
              </a:rPr>
              <a:t>git push</a:t>
            </a:r>
            <a:r>
              <a:rPr lang="en-US" dirty="0">
                <a:ea typeface="+mn-lt"/>
                <a:cs typeface="+mn-lt"/>
              </a:rPr>
              <a:t>, Amplify build et </a:t>
            </a:r>
            <a:r>
              <a:rPr lang="en-US" dirty="0" err="1">
                <a:ea typeface="+mn-lt"/>
                <a:cs typeface="+mn-lt"/>
              </a:rPr>
              <a:t>redéploie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l’application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pPr marL="514350" indent="-514350">
              <a:buAutoNum type="arabicPeriod"/>
            </a:pPr>
            <a:r>
              <a:rPr lang="en-US" b="1" dirty="0">
                <a:ea typeface="+mn-lt"/>
                <a:cs typeface="+mn-lt"/>
              </a:rPr>
              <a:t>Application disponible </a:t>
            </a:r>
            <a:r>
              <a:rPr lang="en-US" b="1" dirty="0" err="1">
                <a:ea typeface="+mn-lt"/>
                <a:cs typeface="+mn-lt"/>
              </a:rPr>
              <a:t>en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ligne</a:t>
            </a:r>
          </a:p>
          <a:p>
            <a:pPr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692E04-E79F-0B71-3FCA-32EA3B2B1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4</a:t>
            </a:fld>
            <a:endParaRPr lang="fr-FR"/>
          </a:p>
        </p:txBody>
      </p:sp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24B5F004-6AA0-1F3E-2655-6D545C254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3507" y="156125"/>
            <a:ext cx="2105371" cy="1565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8845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11580-54DC-E14B-1A5D-664EB1142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96E2F-2A28-F3C3-94D9-0A6091609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ptos"/>
              </a:rPr>
              <a:t>Sources du vendor lock-in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DE38045-3C5C-A77F-2ED8-66A1055061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03507" y="156125"/>
            <a:ext cx="2105371" cy="15650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C99BC12-3E4E-CFE5-07D0-C710C0090553}"/>
              </a:ext>
            </a:extLst>
          </p:cNvPr>
          <p:cNvSpPr txBox="1"/>
          <p:nvPr/>
        </p:nvSpPr>
        <p:spPr>
          <a:xfrm>
            <a:off x="851330" y="1705269"/>
            <a:ext cx="9760482" cy="52629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 b="1">
                <a:ea typeface="+mn-lt"/>
                <a:cs typeface="+mn-lt"/>
              </a:rPr>
              <a:t>Amazon Cognito</a:t>
            </a:r>
            <a:endParaRPr lang="en-US" b="1">
              <a:ea typeface="+mn-lt"/>
              <a:cs typeface="+mn-lt"/>
            </a:endParaRPr>
          </a:p>
          <a:p>
            <a:pPr marL="800100" lvl="1" indent="-342900">
              <a:buFont typeface="Courier New"/>
              <a:buChar char="o"/>
            </a:pPr>
            <a:r>
              <a:rPr lang="en-US" sz="2400" err="1">
                <a:ea typeface="+mn-lt"/>
                <a:cs typeface="+mn-lt"/>
              </a:rPr>
              <a:t>Dépendance</a:t>
            </a:r>
            <a:r>
              <a:rPr lang="en-US" sz="2400">
                <a:ea typeface="+mn-lt"/>
                <a:cs typeface="+mn-lt"/>
              </a:rPr>
              <a:t> au </a:t>
            </a:r>
            <a:r>
              <a:rPr lang="en-US" sz="2400" err="1">
                <a:ea typeface="+mn-lt"/>
                <a:cs typeface="+mn-lt"/>
              </a:rPr>
              <a:t>système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d'authentification</a:t>
            </a:r>
            <a:r>
              <a:rPr lang="en-US" sz="2400">
                <a:ea typeface="+mn-lt"/>
                <a:cs typeface="+mn-lt"/>
              </a:rPr>
              <a:t> AWS.</a:t>
            </a:r>
            <a:endParaRPr lang="en-US">
              <a:ea typeface="+mn-lt"/>
              <a:cs typeface="+mn-lt"/>
            </a:endParaRPr>
          </a:p>
          <a:p>
            <a:pPr marL="800100" lvl="1" indent="-342900">
              <a:buFont typeface="Courier New"/>
              <a:buChar char="o"/>
            </a:pPr>
            <a:endParaRPr lang="en-US" sz="240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400" b="1">
                <a:ea typeface="+mn-lt"/>
                <a:cs typeface="+mn-lt"/>
              </a:rPr>
              <a:t>Amazon DynamoDB</a:t>
            </a:r>
            <a:endParaRPr lang="en-US" b="1">
              <a:ea typeface="+mn-lt"/>
              <a:cs typeface="+mn-lt"/>
            </a:endParaRPr>
          </a:p>
          <a:p>
            <a:pPr marL="800100" lvl="1" indent="-342900">
              <a:buFont typeface="Courier New"/>
              <a:buChar char="o"/>
            </a:pPr>
            <a:r>
              <a:rPr lang="en-US" sz="2400" err="1">
                <a:ea typeface="+mn-lt"/>
                <a:cs typeface="+mn-lt"/>
              </a:rPr>
              <a:t>Dépendance</a:t>
            </a:r>
            <a:r>
              <a:rPr lang="en-US" sz="2400">
                <a:ea typeface="+mn-lt"/>
                <a:cs typeface="+mn-lt"/>
              </a:rPr>
              <a:t> à </a:t>
            </a:r>
            <a:r>
              <a:rPr lang="en-US" sz="2400" err="1">
                <a:ea typeface="+mn-lt"/>
                <a:cs typeface="+mn-lt"/>
              </a:rPr>
              <a:t>une</a:t>
            </a:r>
            <a:r>
              <a:rPr lang="en-US" sz="2400">
                <a:ea typeface="+mn-lt"/>
                <a:cs typeface="+mn-lt"/>
              </a:rPr>
              <a:t> base de données propriétaire AWS.</a:t>
            </a:r>
            <a:endParaRPr lang="en-US">
              <a:ea typeface="+mn-lt"/>
              <a:cs typeface="+mn-lt"/>
            </a:endParaRPr>
          </a:p>
          <a:p>
            <a:pPr marL="800100" lvl="1" indent="-342900">
              <a:buFont typeface="Courier New"/>
              <a:buChar char="o"/>
            </a:pPr>
            <a:endParaRPr lang="en-US" sz="240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400" b="1">
                <a:ea typeface="+mn-lt"/>
                <a:cs typeface="+mn-lt"/>
              </a:rPr>
              <a:t>AWS AppSync</a:t>
            </a:r>
            <a:endParaRPr lang="en-US" b="1">
              <a:ea typeface="+mn-lt"/>
              <a:cs typeface="+mn-lt"/>
            </a:endParaRPr>
          </a:p>
          <a:p>
            <a:pPr marL="800100" lvl="1" indent="-342900">
              <a:buFont typeface="Courier New"/>
              <a:buChar char="o"/>
            </a:pPr>
            <a:r>
              <a:rPr lang="en-US" sz="2400" err="1">
                <a:ea typeface="+mn-lt"/>
                <a:cs typeface="+mn-lt"/>
              </a:rPr>
              <a:t>Dépendance</a:t>
            </a:r>
            <a:r>
              <a:rPr lang="en-US" sz="2400">
                <a:ea typeface="+mn-lt"/>
                <a:cs typeface="+mn-lt"/>
              </a:rPr>
              <a:t> aux services </a:t>
            </a:r>
            <a:r>
              <a:rPr lang="en-US" sz="2400" err="1">
                <a:ea typeface="+mn-lt"/>
                <a:cs typeface="+mn-lt"/>
              </a:rPr>
              <a:t>GraphQL</a:t>
            </a:r>
            <a:r>
              <a:rPr lang="en-US" sz="2400">
                <a:ea typeface="+mn-lt"/>
                <a:cs typeface="+mn-lt"/>
              </a:rPr>
              <a:t> et aux </a:t>
            </a:r>
            <a:r>
              <a:rPr lang="en-US" sz="2400" err="1">
                <a:ea typeface="+mn-lt"/>
                <a:cs typeface="+mn-lt"/>
              </a:rPr>
              <a:t>intégrations</a:t>
            </a:r>
            <a:r>
              <a:rPr lang="en-US" sz="2400">
                <a:ea typeface="+mn-lt"/>
                <a:cs typeface="+mn-lt"/>
              </a:rPr>
              <a:t> AWS.</a:t>
            </a:r>
            <a:endParaRPr lang="en-US">
              <a:ea typeface="+mn-lt"/>
              <a:cs typeface="+mn-lt"/>
            </a:endParaRPr>
          </a:p>
          <a:p>
            <a:pPr marL="800100" lvl="1" indent="-342900">
              <a:buFont typeface="Courier New"/>
              <a:buChar char="o"/>
            </a:pPr>
            <a:endParaRPr lang="en-US" sz="240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400" b="1">
                <a:ea typeface="+mn-lt"/>
                <a:cs typeface="+mn-lt"/>
              </a:rPr>
              <a:t>Amplify </a:t>
            </a:r>
            <a:r>
              <a:rPr lang="en-US" sz="2400" b="1" err="1">
                <a:ea typeface="+mn-lt"/>
                <a:cs typeface="+mn-lt"/>
              </a:rPr>
              <a:t>DataStore</a:t>
            </a:r>
            <a:endParaRPr lang="en-US" b="1" err="1">
              <a:ea typeface="+mn-lt"/>
              <a:cs typeface="+mn-lt"/>
            </a:endParaRPr>
          </a:p>
          <a:p>
            <a:pPr marL="800100" lvl="1" indent="-342900">
              <a:buFont typeface="Courier New"/>
              <a:buChar char="o"/>
            </a:pPr>
            <a:r>
              <a:rPr lang="en-US" sz="2400" err="1">
                <a:ea typeface="+mn-lt"/>
                <a:cs typeface="+mn-lt"/>
              </a:rPr>
              <a:t>Dépendance</a:t>
            </a:r>
            <a:r>
              <a:rPr lang="en-US" sz="2400">
                <a:ea typeface="+mn-lt"/>
                <a:cs typeface="+mn-lt"/>
              </a:rPr>
              <a:t> aux </a:t>
            </a:r>
            <a:r>
              <a:rPr lang="en-US" sz="2400" err="1">
                <a:ea typeface="+mn-lt"/>
                <a:cs typeface="+mn-lt"/>
              </a:rPr>
              <a:t>mécanismes</a:t>
            </a:r>
            <a:r>
              <a:rPr lang="en-US" sz="2400">
                <a:ea typeface="+mn-lt"/>
                <a:cs typeface="+mn-lt"/>
              </a:rPr>
              <a:t> de </a:t>
            </a:r>
            <a:r>
              <a:rPr lang="en-US" sz="2400" err="1">
                <a:ea typeface="+mn-lt"/>
                <a:cs typeface="+mn-lt"/>
              </a:rPr>
              <a:t>synchronisation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propres</a:t>
            </a:r>
            <a:r>
              <a:rPr lang="en-US" sz="2400">
                <a:ea typeface="+mn-lt"/>
                <a:cs typeface="+mn-lt"/>
              </a:rPr>
              <a:t> à Amplify</a:t>
            </a:r>
            <a:endParaRPr lang="en-US"/>
          </a:p>
          <a:p>
            <a:pPr marL="342900" indent="-342900">
              <a:buFont typeface="Arial"/>
              <a:buChar char="•"/>
            </a:pPr>
            <a:endParaRPr lang="en-US" sz="2400">
              <a:latin typeface="Aptos"/>
              <a:ea typeface="+mj-ea"/>
              <a:cs typeface="Quire Sans"/>
            </a:endParaRPr>
          </a:p>
          <a:p>
            <a:pPr marL="800100" lvl="1" indent="-342900">
              <a:buFont typeface="Courier New"/>
              <a:buChar char="o"/>
            </a:pPr>
            <a:endParaRPr lang="en-US" sz="2400">
              <a:ea typeface="+mj-ea"/>
              <a:cs typeface="Quire San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65805-A027-127C-7F3B-75135C8D1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8621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FEA52-A30E-CC89-DCC3-B2E9E086E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7DBAB-29CA-6A52-A12A-5ED10BEF1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ptos"/>
              </a:rPr>
              <a:t>Limitations du vendor lock-in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6622EFF-0D93-7C7B-CBC9-4F269915C7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03507" y="156125"/>
            <a:ext cx="2105371" cy="15650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AE85F9-A48A-D901-3DE3-14048328399C}"/>
              </a:ext>
            </a:extLst>
          </p:cNvPr>
          <p:cNvSpPr txBox="1"/>
          <p:nvPr/>
        </p:nvSpPr>
        <p:spPr>
          <a:xfrm>
            <a:off x="851331" y="2093197"/>
            <a:ext cx="9774336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 b="1">
                <a:ea typeface="+mn-lt"/>
                <a:cs typeface="+mn-lt"/>
              </a:rPr>
              <a:t>Export des </a:t>
            </a:r>
            <a:r>
              <a:rPr lang="en-US" sz="2400" b="1" err="1">
                <a:ea typeface="+mn-lt"/>
                <a:cs typeface="+mn-lt"/>
              </a:rPr>
              <a:t>fichiers</a:t>
            </a:r>
            <a:r>
              <a:rPr lang="en-US" sz="2400" b="1">
                <a:ea typeface="+mn-lt"/>
                <a:cs typeface="+mn-lt"/>
              </a:rPr>
              <a:t> </a:t>
            </a:r>
            <a:r>
              <a:rPr lang="en-US" sz="2400" b="1" err="1">
                <a:ea typeface="+mn-lt"/>
                <a:cs typeface="+mn-lt"/>
              </a:rPr>
              <a:t>depuis</a:t>
            </a:r>
            <a:r>
              <a:rPr lang="en-US" sz="2400" b="1">
                <a:ea typeface="+mn-lt"/>
                <a:cs typeface="+mn-lt"/>
              </a:rPr>
              <a:t> S3</a:t>
            </a:r>
            <a:r>
              <a:rPr lang="en-US" sz="2400">
                <a:ea typeface="+mn-lt"/>
                <a:cs typeface="+mn-lt"/>
              </a:rPr>
              <a:t> (formats standards) 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 sz="24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400" b="1">
                <a:ea typeface="+mn-lt"/>
                <a:cs typeface="+mn-lt"/>
              </a:rPr>
              <a:t>Export des données DynamoDB</a:t>
            </a:r>
            <a:r>
              <a:rPr lang="en-US" sz="2400">
                <a:ea typeface="+mn-lt"/>
                <a:cs typeface="+mn-lt"/>
              </a:rPr>
              <a:t> (JSON, CSV) 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 sz="24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400" b="1">
                <a:ea typeface="+mn-lt"/>
                <a:cs typeface="+mn-lt"/>
              </a:rPr>
              <a:t>Frameworks frontend standards</a:t>
            </a:r>
            <a:r>
              <a:rPr lang="en-US" sz="2400">
                <a:ea typeface="+mn-lt"/>
                <a:cs typeface="+mn-lt"/>
              </a:rPr>
              <a:t> (React, Angular, Vue, ...) 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 sz="24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400" b="1">
                <a:ea typeface="+mn-lt"/>
                <a:cs typeface="+mn-lt"/>
              </a:rPr>
              <a:t>Protocoles </a:t>
            </a:r>
            <a:r>
              <a:rPr lang="en-US" sz="2400" b="1" err="1">
                <a:ea typeface="+mn-lt"/>
                <a:cs typeface="+mn-lt"/>
              </a:rPr>
              <a:t>ouverts</a:t>
            </a:r>
            <a:r>
              <a:rPr lang="en-US" sz="2400">
                <a:ea typeface="+mn-lt"/>
                <a:cs typeface="+mn-lt"/>
              </a:rPr>
              <a:t> (REST, </a:t>
            </a:r>
            <a:r>
              <a:rPr lang="en-US" sz="2400" err="1">
                <a:ea typeface="+mn-lt"/>
                <a:cs typeface="+mn-lt"/>
              </a:rPr>
              <a:t>GraphQL</a:t>
            </a:r>
            <a:r>
              <a:rPr lang="en-US" sz="2400">
                <a:ea typeface="+mn-lt"/>
                <a:cs typeface="+mn-lt"/>
              </a:rPr>
              <a:t>)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4246A4-E0AC-83F6-2C46-0553FDA0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2734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67B1E-8BB2-F546-F607-6B74E6604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C6690-FE2C-C37D-F158-47B61FF96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ptos"/>
              </a:rPr>
              <a:t>Réduction</a:t>
            </a:r>
            <a:r>
              <a:rPr lang="en-US" dirty="0">
                <a:latin typeface="Aptos"/>
              </a:rPr>
              <a:t> du vendor lock-in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1963CBE-701B-4E81-10DD-89CE248C32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03507" y="156125"/>
            <a:ext cx="2105371" cy="15650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CA4BABC-A8FA-E2AE-2D21-E0D50717B104}"/>
              </a:ext>
            </a:extLst>
          </p:cNvPr>
          <p:cNvSpPr txBox="1"/>
          <p:nvPr/>
        </p:nvSpPr>
        <p:spPr>
          <a:xfrm>
            <a:off x="851331" y="1760688"/>
            <a:ext cx="9774336" cy="33239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 b="1">
                <a:ea typeface="+mn-lt"/>
                <a:cs typeface="+mn-lt"/>
              </a:rPr>
              <a:t>Couche </a:t>
            </a:r>
            <a:r>
              <a:rPr lang="en-US" sz="2400" b="1" err="1">
                <a:ea typeface="+mn-lt"/>
                <a:cs typeface="+mn-lt"/>
              </a:rPr>
              <a:t>d'abstraction</a:t>
            </a:r>
            <a:r>
              <a:rPr lang="en-US" sz="2400" b="1">
                <a:ea typeface="+mn-lt"/>
                <a:cs typeface="+mn-lt"/>
              </a:rPr>
              <a:t> entre </a:t>
            </a:r>
            <a:r>
              <a:rPr lang="en-US" sz="2400" b="1" err="1">
                <a:ea typeface="+mn-lt"/>
                <a:cs typeface="+mn-lt"/>
              </a:rPr>
              <a:t>l'application</a:t>
            </a:r>
            <a:r>
              <a:rPr lang="en-US" sz="2400" b="1">
                <a:ea typeface="+mn-lt"/>
                <a:cs typeface="+mn-lt"/>
              </a:rPr>
              <a:t> et AWS</a:t>
            </a:r>
            <a:r>
              <a:rPr lang="en-US" sz="2400">
                <a:ea typeface="+mn-lt"/>
                <a:cs typeface="+mn-lt"/>
              </a:rPr>
              <a:t> </a:t>
            </a:r>
            <a:endParaRPr lang="en-US"/>
          </a:p>
          <a:p>
            <a:endParaRPr lang="en-US" sz="240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400" b="1">
                <a:ea typeface="+mn-lt"/>
                <a:cs typeface="+mn-lt"/>
              </a:rPr>
              <a:t>Limiter </a:t>
            </a:r>
            <a:r>
              <a:rPr lang="en-US" sz="2400" b="1" err="1">
                <a:ea typeface="+mn-lt"/>
                <a:cs typeface="+mn-lt"/>
              </a:rPr>
              <a:t>l'utilisation</a:t>
            </a:r>
            <a:r>
              <a:rPr lang="en-US" sz="2400" b="1">
                <a:ea typeface="+mn-lt"/>
                <a:cs typeface="+mn-lt"/>
              </a:rPr>
              <a:t> </a:t>
            </a:r>
            <a:r>
              <a:rPr lang="en-US" sz="2400" b="1" err="1">
                <a:ea typeface="+mn-lt"/>
                <a:cs typeface="+mn-lt"/>
              </a:rPr>
              <a:t>d'API</a:t>
            </a:r>
            <a:r>
              <a:rPr lang="en-US" sz="2400" b="1">
                <a:ea typeface="+mn-lt"/>
                <a:cs typeface="+mn-lt"/>
              </a:rPr>
              <a:t> propriétaires AWS</a:t>
            </a:r>
            <a:r>
              <a:rPr lang="en-US" sz="2400">
                <a:ea typeface="+mn-lt"/>
                <a:cs typeface="+mn-lt"/>
              </a:rPr>
              <a:t> </a:t>
            </a:r>
            <a:endParaRPr lang="en-US"/>
          </a:p>
          <a:p>
            <a:endParaRPr lang="en-US" sz="240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400" b="1" err="1">
                <a:ea typeface="+mn-lt"/>
                <a:cs typeface="+mn-lt"/>
              </a:rPr>
              <a:t>Privilégier</a:t>
            </a:r>
            <a:r>
              <a:rPr lang="en-US" sz="2400" b="1">
                <a:ea typeface="+mn-lt"/>
                <a:cs typeface="+mn-lt"/>
              </a:rPr>
              <a:t> les standards </a:t>
            </a:r>
            <a:r>
              <a:rPr lang="en-US" sz="2400" b="1" err="1">
                <a:ea typeface="+mn-lt"/>
                <a:cs typeface="+mn-lt"/>
              </a:rPr>
              <a:t>ouverts</a:t>
            </a:r>
            <a:r>
              <a:rPr lang="en-US" sz="2400" b="1">
                <a:ea typeface="+mn-lt"/>
                <a:cs typeface="+mn-lt"/>
              </a:rPr>
              <a:t> (REST, </a:t>
            </a:r>
            <a:r>
              <a:rPr lang="en-US" sz="2400" b="1" err="1">
                <a:ea typeface="+mn-lt"/>
                <a:cs typeface="+mn-lt"/>
              </a:rPr>
              <a:t>GraphQL</a:t>
            </a:r>
            <a:r>
              <a:rPr lang="en-US" sz="2400" b="1">
                <a:ea typeface="+mn-lt"/>
                <a:cs typeface="+mn-lt"/>
              </a:rPr>
              <a:t>)</a:t>
            </a:r>
            <a:endParaRPr lang="en-US">
              <a:ea typeface="+mn-lt"/>
              <a:cs typeface="+mn-lt"/>
            </a:endParaRPr>
          </a:p>
          <a:p>
            <a:endParaRPr lang="en-US"/>
          </a:p>
          <a:p>
            <a:pPr marL="342900" indent="-342900">
              <a:buFont typeface="Arial"/>
              <a:buChar char="•"/>
            </a:pPr>
            <a:r>
              <a:rPr lang="en-US" sz="2400" b="1" err="1">
                <a:ea typeface="+mn-lt"/>
                <a:cs typeface="+mn-lt"/>
              </a:rPr>
              <a:t>Séparer</a:t>
            </a:r>
            <a:r>
              <a:rPr lang="en-US" sz="2400" b="1">
                <a:ea typeface="+mn-lt"/>
                <a:cs typeface="+mn-lt"/>
              </a:rPr>
              <a:t> la </a:t>
            </a:r>
            <a:r>
              <a:rPr lang="en-US" sz="2400" b="1" err="1">
                <a:ea typeface="+mn-lt"/>
                <a:cs typeface="+mn-lt"/>
              </a:rPr>
              <a:t>logique</a:t>
            </a:r>
            <a:r>
              <a:rPr lang="en-US" sz="2400" b="1">
                <a:ea typeface="+mn-lt"/>
                <a:cs typeface="+mn-lt"/>
              </a:rPr>
              <a:t> métier des services cloud</a:t>
            </a:r>
            <a:endParaRPr lang="en-US" sz="2400">
              <a:ea typeface="+mn-lt"/>
              <a:cs typeface="+mn-lt"/>
            </a:endParaRPr>
          </a:p>
          <a:p>
            <a:endParaRPr lang="en-US" sz="2400" b="1"/>
          </a:p>
          <a:p>
            <a:pPr marL="342900" indent="-342900">
              <a:buFont typeface="Arial"/>
              <a:buChar char="•"/>
            </a:pPr>
            <a:r>
              <a:rPr lang="en-US" sz="2400" b="1">
                <a:ea typeface="+mn-lt"/>
                <a:cs typeface="+mn-lt"/>
              </a:rPr>
              <a:t>Tester </a:t>
            </a:r>
            <a:r>
              <a:rPr lang="en-US" sz="2400" b="1" err="1">
                <a:ea typeface="+mn-lt"/>
                <a:cs typeface="+mn-lt"/>
              </a:rPr>
              <a:t>régulièrement</a:t>
            </a:r>
            <a:r>
              <a:rPr lang="en-US" sz="2400" b="1">
                <a:ea typeface="+mn-lt"/>
                <a:cs typeface="+mn-lt"/>
              </a:rPr>
              <a:t> </a:t>
            </a:r>
            <a:r>
              <a:rPr lang="en-US" sz="2400" b="1" err="1">
                <a:ea typeface="+mn-lt"/>
                <a:cs typeface="+mn-lt"/>
              </a:rPr>
              <a:t>l'export</a:t>
            </a:r>
            <a:r>
              <a:rPr lang="en-US" sz="2400" b="1">
                <a:ea typeface="+mn-lt"/>
                <a:cs typeface="+mn-lt"/>
              </a:rPr>
              <a:t> et la </a:t>
            </a:r>
            <a:r>
              <a:rPr lang="en-US" sz="2400" b="1" err="1">
                <a:ea typeface="+mn-lt"/>
                <a:cs typeface="+mn-lt"/>
              </a:rPr>
              <a:t>sauvegarde</a:t>
            </a:r>
            <a:r>
              <a:rPr lang="en-US" sz="2400" b="1">
                <a:ea typeface="+mn-lt"/>
                <a:cs typeface="+mn-lt"/>
              </a:rPr>
              <a:t> des données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D6E91B-CAF2-E6A3-B13E-37EB1BB25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5977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33D13-6AB9-486C-F460-183D6AA55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4EBE8-DC19-C214-DD94-0A266CDDE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75" y="384175"/>
            <a:ext cx="10515600" cy="1325563"/>
          </a:xfrm>
        </p:spPr>
        <p:txBody>
          <a:bodyPr/>
          <a:lstStyle/>
          <a:p>
            <a:r>
              <a:rPr lang="en-US" err="1">
                <a:latin typeface="Aptos"/>
              </a:rPr>
              <a:t>Analyse</a:t>
            </a:r>
            <a:r>
              <a:rPr lang="en-US">
                <a:latin typeface="Aptos"/>
              </a:rPr>
              <a:t> des coûts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22996F9-72A1-282F-819D-051A742412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03507" y="156125"/>
            <a:ext cx="2105371" cy="15650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1A0726E-8606-30AC-2086-A8CD5B13A86C}"/>
              </a:ext>
            </a:extLst>
          </p:cNvPr>
          <p:cNvSpPr txBox="1"/>
          <p:nvPr/>
        </p:nvSpPr>
        <p:spPr>
          <a:xfrm>
            <a:off x="786631" y="1906160"/>
            <a:ext cx="10516797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Aptos"/>
                <a:ea typeface="+mj-ea"/>
                <a:cs typeface="Quire Sans"/>
              </a:rPr>
              <a:t>Pay-as-you-go</a:t>
            </a:r>
            <a:endParaRPr lang="en-US" sz="2400" b="1">
              <a:ea typeface="+mj-ea"/>
              <a:cs typeface="Quire Sans"/>
            </a:endParaRPr>
          </a:p>
          <a:p>
            <a:r>
              <a:rPr lang="en-US" sz="2400" dirty="0">
                <a:latin typeface="Aptos"/>
                <a:ea typeface="+mj-ea"/>
                <a:cs typeface="Quire Sans"/>
              </a:rPr>
              <a:t>Les </a:t>
            </a:r>
            <a:r>
              <a:rPr lang="en-US" sz="2400" dirty="0" err="1">
                <a:latin typeface="Aptos"/>
                <a:ea typeface="+mj-ea"/>
                <a:cs typeface="Quire Sans"/>
              </a:rPr>
              <a:t>coûts</a:t>
            </a:r>
            <a:r>
              <a:rPr lang="en-US" sz="2400" dirty="0">
                <a:latin typeface="Aptos"/>
                <a:ea typeface="+mj-ea"/>
                <a:cs typeface="Quire Sans"/>
              </a:rPr>
              <a:t> </a:t>
            </a:r>
            <a:r>
              <a:rPr lang="en-US" sz="2400" dirty="0" err="1">
                <a:latin typeface="Aptos"/>
                <a:ea typeface="+mj-ea"/>
                <a:cs typeface="Quire Sans"/>
              </a:rPr>
              <a:t>dépendent</a:t>
            </a:r>
            <a:r>
              <a:rPr lang="en-US" sz="2400" dirty="0">
                <a:latin typeface="Aptos"/>
                <a:ea typeface="+mj-ea"/>
                <a:cs typeface="Quire Sans"/>
              </a:rPr>
              <a:t> du traffic, du stockage et des services </a:t>
            </a:r>
            <a:r>
              <a:rPr lang="en-US" sz="2400" dirty="0" err="1">
                <a:latin typeface="Aptos"/>
                <a:ea typeface="+mj-ea"/>
                <a:cs typeface="Quire Sans"/>
              </a:rPr>
              <a:t>utilisés</a:t>
            </a:r>
          </a:p>
          <a:p>
            <a:endParaRPr lang="en-US" sz="2400" dirty="0">
              <a:latin typeface="Aptos"/>
              <a:ea typeface="+mj-ea"/>
              <a:cs typeface="Quire Sans"/>
            </a:endParaRPr>
          </a:p>
          <a:p>
            <a:r>
              <a:rPr lang="en-US" sz="2400" b="1" dirty="0">
                <a:latin typeface="Aptos"/>
                <a:ea typeface="+mj-ea"/>
                <a:cs typeface="Quire Sans"/>
              </a:rPr>
              <a:t>PME (~50 </a:t>
            </a:r>
            <a:r>
              <a:rPr lang="en-US" sz="2400" b="1" dirty="0" err="1">
                <a:latin typeface="Aptos"/>
                <a:ea typeface="+mj-ea"/>
                <a:cs typeface="Quire Sans"/>
              </a:rPr>
              <a:t>employés</a:t>
            </a:r>
            <a:r>
              <a:rPr lang="en-US" sz="2400" b="1" dirty="0">
                <a:latin typeface="Aptos"/>
                <a:ea typeface="+mj-ea"/>
                <a:cs typeface="Quire Sans"/>
              </a:rPr>
              <a:t>) :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A0180-EEFF-68E7-9E83-3324D47E5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8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7B28E3B-4C29-616B-14E2-3E1F47CA58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9024579"/>
              </p:ext>
            </p:extLst>
          </p:nvPr>
        </p:nvGraphicFramePr>
        <p:xfrm>
          <a:off x="789709" y="3578802"/>
          <a:ext cx="10573044" cy="2743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286522">
                  <a:extLst>
                    <a:ext uri="{9D8B030D-6E8A-4147-A177-3AD203B41FA5}">
                      <a16:colId xmlns:a16="http://schemas.microsoft.com/office/drawing/2014/main" val="1105509614"/>
                    </a:ext>
                  </a:extLst>
                </a:gridCol>
                <a:gridCol w="5286522">
                  <a:extLst>
                    <a:ext uri="{9D8B030D-6E8A-4147-A177-3AD203B41FA5}">
                      <a16:colId xmlns:a16="http://schemas.microsoft.com/office/drawing/2014/main" val="4890988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Service</a:t>
                      </a:r>
                      <a:endParaRPr lang="en-US" sz="2400" b="1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 err="1"/>
                        <a:t>Coût</a:t>
                      </a:r>
                      <a:r>
                        <a:rPr lang="en-US" sz="2400" b="1" dirty="0"/>
                        <a:t> </a:t>
                      </a:r>
                      <a:r>
                        <a:rPr lang="en-US" sz="2400" b="1" dirty="0" err="1"/>
                        <a:t>estimé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96221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Amplify Hosting</a:t>
                      </a:r>
                      <a:endParaRPr lang="en-US" sz="24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5-15 USD/</a:t>
                      </a:r>
                      <a:r>
                        <a:rPr lang="en-US" sz="2400" dirty="0" err="1"/>
                        <a:t>mois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96351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Cognito</a:t>
                      </a:r>
                      <a:endParaRPr lang="en-US" sz="24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0-5 USD/</a:t>
                      </a:r>
                      <a:r>
                        <a:rPr lang="en-US" sz="2400" dirty="0" err="1"/>
                        <a:t>mois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4646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DynamoDB</a:t>
                      </a:r>
                      <a:endParaRPr lang="en-US" sz="24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1-10 USD/</a:t>
                      </a:r>
                      <a:r>
                        <a:rPr lang="en-US" sz="2400" dirty="0" err="1"/>
                        <a:t>mois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32539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S3</a:t>
                      </a:r>
                      <a:endParaRPr lang="en-US" sz="24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1-5 USD/</a:t>
                      </a:r>
                      <a:r>
                        <a:rPr lang="en-US" sz="2400" dirty="0" err="1"/>
                        <a:t>mois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2714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Total</a:t>
                      </a:r>
                      <a:endParaRPr lang="en-US" sz="24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10-35 USD/</a:t>
                      </a:r>
                      <a:r>
                        <a:rPr lang="en-US" sz="2400" b="1" dirty="0" err="1"/>
                        <a:t>mois</a:t>
                      </a:r>
                      <a:endParaRPr lang="en-US" sz="2400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57168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80947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EADA7-061F-BB98-34ED-05D37C078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1179901-B62C-A89B-99F1-916D96A2C5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7432" y="1270550"/>
            <a:ext cx="5782021" cy="430823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7BC98-EB88-35B0-2262-EE730C350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9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5D4F5B9-2164-21CC-79E7-8A664D716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0" y="2765425"/>
            <a:ext cx="3657600" cy="1325563"/>
          </a:xfrm>
        </p:spPr>
        <p:txBody>
          <a:bodyPr>
            <a:noAutofit/>
          </a:bodyPr>
          <a:lstStyle/>
          <a:p>
            <a:r>
              <a:rPr lang="en-US" sz="9600" b="1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055457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8373A-6FB8-95F7-4A35-A8D63C464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C926C-5EEC-40F4-EA42-3D3650772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latin typeface="Aptos"/>
              </a:rPr>
              <a:t>Recommandations</a:t>
            </a:r>
            <a:r>
              <a:rPr lang="en-US">
                <a:latin typeface="Aptos"/>
              </a:rPr>
              <a:t> </a:t>
            </a:r>
            <a:r>
              <a:rPr lang="en-US" err="1">
                <a:latin typeface="Aptos"/>
              </a:rPr>
              <a:t>d'utilisation</a:t>
            </a:r>
            <a:endParaRPr lang="en-US">
              <a:latin typeface="Aptos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9F2C7C5-7C6C-8D3F-998B-9AAB69C3A6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03507" y="156125"/>
            <a:ext cx="2105371" cy="15650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E1EA002-96F7-8F76-03C8-65D39916CC34}"/>
              </a:ext>
            </a:extLst>
          </p:cNvPr>
          <p:cNvSpPr txBox="1"/>
          <p:nvPr/>
        </p:nvSpPr>
        <p:spPr>
          <a:xfrm>
            <a:off x="837476" y="1987423"/>
            <a:ext cx="10516797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71500" indent="-571500">
              <a:buFont typeface="Arial"/>
              <a:buChar char="•"/>
            </a:pPr>
            <a:r>
              <a:rPr lang="en-US" sz="3200" dirty="0">
                <a:latin typeface="Aptos"/>
                <a:ea typeface="+mj-ea"/>
                <a:cs typeface="Quire Sans"/>
              </a:rPr>
              <a:t>Parfait pour petits </a:t>
            </a:r>
            <a:r>
              <a:rPr lang="en-US" sz="3200" dirty="0" err="1">
                <a:latin typeface="Aptos"/>
                <a:ea typeface="+mj-ea"/>
                <a:cs typeface="Quire Sans"/>
              </a:rPr>
              <a:t>projets</a:t>
            </a:r>
            <a:r>
              <a:rPr lang="en-US" sz="3200" dirty="0">
                <a:latin typeface="Aptos"/>
                <a:ea typeface="+mj-ea"/>
                <a:cs typeface="Quire Sans"/>
              </a:rPr>
              <a:t> frontend, sans backend </a:t>
            </a:r>
            <a:r>
              <a:rPr lang="en-US" sz="3200" dirty="0" err="1">
                <a:latin typeface="Aptos"/>
                <a:ea typeface="+mj-ea"/>
                <a:cs typeface="Quire Sans"/>
              </a:rPr>
              <a:t>complexe</a:t>
            </a:r>
            <a:endParaRPr lang="en-US" sz="3200" dirty="0">
              <a:latin typeface="Aptos"/>
              <a:ea typeface="+mj-ea"/>
              <a:cs typeface="Quire Sans"/>
            </a:endParaRPr>
          </a:p>
          <a:p>
            <a:pPr marL="571500" indent="-571500">
              <a:buFont typeface="Arial"/>
              <a:buChar char="•"/>
            </a:pPr>
            <a:endParaRPr lang="en-US" sz="3200" dirty="0">
              <a:latin typeface="Aptos"/>
              <a:ea typeface="+mj-ea"/>
              <a:cs typeface="Quire Sans"/>
            </a:endParaRPr>
          </a:p>
          <a:p>
            <a:pPr marL="571500" indent="-571500">
              <a:buFont typeface="Arial"/>
              <a:buChar char="•"/>
            </a:pPr>
            <a:r>
              <a:rPr lang="en-US" sz="3200" dirty="0" err="1">
                <a:latin typeface="Aptos"/>
                <a:ea typeface="+mj-ea"/>
                <a:cs typeface="Quire Sans"/>
              </a:rPr>
              <a:t>Intégration</a:t>
            </a:r>
            <a:r>
              <a:rPr lang="en-US" sz="3200" dirty="0">
                <a:latin typeface="Aptos"/>
                <a:ea typeface="+mj-ea"/>
                <a:cs typeface="Quire Sans"/>
              </a:rPr>
              <a:t> naturelle </a:t>
            </a:r>
            <a:r>
              <a:rPr lang="en-US" sz="3200" dirty="0" err="1">
                <a:latin typeface="Aptos"/>
                <a:ea typeface="+mj-ea"/>
                <a:cs typeface="Quire Sans"/>
              </a:rPr>
              <a:t>si</a:t>
            </a:r>
            <a:r>
              <a:rPr lang="en-US" sz="3200" dirty="0">
                <a:latin typeface="Aptos"/>
                <a:ea typeface="+mj-ea"/>
                <a:cs typeface="Quire Sans"/>
              </a:rPr>
              <a:t> </a:t>
            </a:r>
            <a:r>
              <a:rPr lang="en-US" sz="3200" dirty="0" err="1">
                <a:latin typeface="Aptos"/>
                <a:ea typeface="+mj-ea"/>
                <a:cs typeface="Quire Sans"/>
              </a:rPr>
              <a:t>environnement</a:t>
            </a:r>
            <a:r>
              <a:rPr lang="en-US" sz="3200" dirty="0">
                <a:latin typeface="Aptos"/>
                <a:ea typeface="+mj-ea"/>
                <a:cs typeface="Quire Sans"/>
              </a:rPr>
              <a:t> full AWS</a:t>
            </a:r>
          </a:p>
          <a:p>
            <a:pPr marL="571500" indent="-571500">
              <a:buFont typeface="Arial"/>
              <a:buChar char="•"/>
            </a:pPr>
            <a:endParaRPr lang="en-US" sz="3200" dirty="0">
              <a:latin typeface="Aptos"/>
              <a:ea typeface="+mj-ea"/>
              <a:cs typeface="Quire Sans"/>
            </a:endParaRPr>
          </a:p>
          <a:p>
            <a:pPr marL="571500" indent="-571500">
              <a:buFont typeface="Arial"/>
              <a:buChar char="•"/>
            </a:pPr>
            <a:r>
              <a:rPr lang="en-US" sz="3200" dirty="0">
                <a:latin typeface="Aptos"/>
                <a:ea typeface="+mj-ea"/>
                <a:cs typeface="Quire Sans"/>
              </a:rPr>
              <a:t>Si gros </a:t>
            </a:r>
            <a:r>
              <a:rPr lang="en-US" sz="3200" dirty="0" err="1">
                <a:latin typeface="Aptos"/>
                <a:ea typeface="+mj-ea"/>
                <a:cs typeface="Quire Sans"/>
              </a:rPr>
              <a:t>calculs</a:t>
            </a:r>
            <a:r>
              <a:rPr lang="en-US" sz="3200" dirty="0">
                <a:latin typeface="Aptos"/>
                <a:ea typeface="+mj-ea"/>
                <a:cs typeface="Quire Sans"/>
              </a:rPr>
              <a:t> </a:t>
            </a:r>
            <a:r>
              <a:rPr lang="en-US" sz="3200" dirty="0" err="1">
                <a:latin typeface="Aptos"/>
                <a:ea typeface="+mj-ea"/>
                <a:cs typeface="Quire Sans"/>
              </a:rPr>
              <a:t>ou</a:t>
            </a:r>
            <a:r>
              <a:rPr lang="en-US" sz="3200" dirty="0">
                <a:latin typeface="Aptos"/>
                <a:ea typeface="+mj-ea"/>
                <a:cs typeface="Quire Sans"/>
              </a:rPr>
              <a:t> backend trop </a:t>
            </a:r>
            <a:r>
              <a:rPr lang="en-US" sz="3200" dirty="0" err="1">
                <a:latin typeface="Aptos"/>
                <a:ea typeface="+mj-ea"/>
                <a:cs typeface="Quire Sans"/>
              </a:rPr>
              <a:t>spécifique</a:t>
            </a:r>
            <a:r>
              <a:rPr lang="en-US" sz="3200" dirty="0">
                <a:latin typeface="Aptos"/>
                <a:ea typeface="+mj-ea"/>
                <a:cs typeface="Quire Sans"/>
              </a:rPr>
              <a:t>/</a:t>
            </a:r>
            <a:r>
              <a:rPr lang="en-US" sz="3200" dirty="0" err="1">
                <a:latin typeface="Aptos"/>
                <a:ea typeface="+mj-ea"/>
                <a:cs typeface="Quire Sans"/>
              </a:rPr>
              <a:t>complexe</a:t>
            </a:r>
            <a:r>
              <a:rPr lang="en-US" sz="3200" dirty="0">
                <a:latin typeface="Aptos"/>
                <a:ea typeface="+mj-ea"/>
                <a:cs typeface="Quire Sans"/>
              </a:rPr>
              <a:t> -&gt; pas </a:t>
            </a:r>
            <a:r>
              <a:rPr lang="en-US" sz="3200" dirty="0" err="1">
                <a:latin typeface="Aptos"/>
                <a:ea typeface="+mj-ea"/>
                <a:cs typeface="Quire Sans"/>
              </a:rPr>
              <a:t>adapté</a:t>
            </a:r>
            <a:endParaRPr lang="en-US" sz="2400">
              <a:latin typeface="Aptos"/>
              <a:ea typeface="+mj-ea"/>
              <a:cs typeface="Quire San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550C7B-0482-72C7-5440-069790120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1330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BAFD4-04A0-D079-BFA3-B9548E451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AAA19-0358-5BA5-1BD5-68997693F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277" y="3432663"/>
            <a:ext cx="6412523" cy="1335332"/>
          </a:xfrm>
        </p:spPr>
        <p:txBody>
          <a:bodyPr/>
          <a:lstStyle/>
          <a:p>
            <a:r>
              <a:rPr lang="en-US">
                <a:latin typeface="Aptos"/>
              </a:rPr>
              <a:t>Merci pour </a:t>
            </a:r>
            <a:r>
              <a:rPr lang="en-US" err="1">
                <a:latin typeface="Aptos"/>
              </a:rPr>
              <a:t>votre</a:t>
            </a:r>
            <a:r>
              <a:rPr lang="en-US">
                <a:latin typeface="Aptos"/>
              </a:rPr>
              <a:t> attention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5E91FDC-714E-F533-2180-1E588825E7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44277" y="615279"/>
            <a:ext cx="3844294" cy="281549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3979CC-EEBD-4D40-3FBD-EE54E5377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307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Thème Office</vt:lpstr>
      <vt:lpstr>PowerPoint Presentation</vt:lpstr>
      <vt:lpstr>Introduction</vt:lpstr>
      <vt:lpstr>Services AWS Amplify</vt:lpstr>
      <vt:lpstr>Workflow</vt:lpstr>
      <vt:lpstr>Sources du vendor lock-in</vt:lpstr>
      <vt:lpstr>Limitations du vendor lock-in</vt:lpstr>
      <vt:lpstr>Réduction du vendor lock-in</vt:lpstr>
      <vt:lpstr>Analyse des coûts</vt:lpstr>
      <vt:lpstr>DEMO</vt:lpstr>
      <vt:lpstr>Recommandations d'utilisation</vt:lpstr>
      <vt:lpstr>Merci pour votre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169</cp:revision>
  <dcterms:created xsi:type="dcterms:W3CDTF">2026-06-10T10:37:32Z</dcterms:created>
  <dcterms:modified xsi:type="dcterms:W3CDTF">2026-06-10T21:08:11Z</dcterms:modified>
</cp:coreProperties>
</file>